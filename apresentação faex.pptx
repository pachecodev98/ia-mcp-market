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sldIdLst>
    <p:sldId id="270" r:id="rId5"/>
    <p:sldId id="271" r:id="rId6"/>
    <p:sldId id="288" r:id="rId7"/>
    <p:sldId id="281" r:id="rId8"/>
    <p:sldId id="285" r:id="rId9"/>
    <p:sldId id="277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Capa: Loja IA, agente de compras com NestJS + Supabase. Natã Pacheco, Inteligência Artificial / FAEX.</a:t>
            </a:r>
          </a:p>
          <a:p>
            <a:r>
              <a:rPr lang="pt-BR" dirty="0"/>
              <a:t>Fonte: https://github.com/pachecodev98/mcp-ia-docker (branch main)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Problema: hoje consultar produtos/estoque e fazer pedidos exige navegar telas e planilhas. Solução: chat com IA que consulta o banco real e cria pedidos com aprovação humana.</a:t>
            </a:r>
          </a:p>
          <a:p>
            <a:r>
              <a:rPr lang="pt-BR" dirty="0"/>
              <a:t>Fonte: https://github.com/pachecodev98/mcp-ia-docker (branch main)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Arquitetura: Front React (chat) → POST /chat → Back NestJS (agente ReAct + tools: buscar_produtos, consultar_estoque, calcular_total, criar_pedido) → Supabase/Postgres (tabela Produtos, pedidos). LLM (OpenAI) chamada só pelo backend. n8n removido.</a:t>
            </a:r>
          </a:p>
          <a:p>
            <a:r>
              <a:rPr lang="pt-BR" dirty="0"/>
              <a:t>Fonte: https://github.com/pachecodev98/mcp-ia-docker (branch main)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Tools: buscar_produtos (busca por nome na tabela Produtos), consultar_estoque (quantidade disponível), calcular_total (preço × quantidade), criar_pedido (cria pedido pendente de aprovação).</a:t>
            </a:r>
          </a:p>
          <a:p>
            <a:r>
              <a:rPr lang="pt-BR" dirty="0"/>
              <a:t>Fonte: https://github.com/pachecodev98/mcp-ia-docker (branch main)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Demo (sem screenshot; roteiro):</a:t>
            </a:r>
          </a:p>
          <a:p>
            <a:r>
              <a:rPr lang="pt-BR" dirty="0"/>
              <a:t>1. Perguntar: Quais produtos vocês têm?</a:t>
            </a:r>
          </a:p>
          <a:p>
            <a:r>
              <a:rPr lang="pt-BR" dirty="0"/>
              <a:t>2. Quero 2 unidades de X → aprovar → estoque baixa</a:t>
            </a:r>
          </a:p>
          <a:p>
            <a:r>
              <a:rPr lang="pt-BR" dirty="0"/>
              <a:t>3. Novo pedido → rejeitar → estoque mantém</a:t>
            </a:r>
          </a:p>
          <a:p>
            <a:r>
              <a:rPr lang="pt-BR" dirty="0"/>
              <a:t>4. Pedir mais que o estoque → recusa</a:t>
            </a:r>
          </a:p>
          <a:p>
            <a:r>
              <a:rPr lang="pt-BR" dirty="0"/>
              <a:t>5. Prompt injection → recusa</a:t>
            </a:r>
          </a:p>
          <a:p>
            <a:r>
              <a:rPr lang="pt-BR" dirty="0"/>
              <a:t>Fonte: https://github.com/pachecodev98/mcp-ia-docker (branch main)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Decisões: n8n removido para simplificar e focar no agente; Nest como cérebro único; Aprovação humana antes de alterar o estoque; MOCK_LLM para testes sem custo.</a:t>
            </a:r>
          </a:p>
          <a:p>
            <a:r>
              <a:rPr lang="pt-BR" dirty="0"/>
              <a:t>Próximos passos: RAG com as descrições dos produtos; Autenticação de usuários; Deploy em nuvem (AWS); Histórico de pedidos no front.</a:t>
            </a:r>
          </a:p>
          <a:p>
            <a:r>
              <a:rPr lang="pt-BR" dirty="0"/>
              <a:t>Fonte: https://github.com/pachecodev98/mcp-ia-docker (branch main)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7"/>
          <p:cNvSpPr/>
          <p:nvPr/>
        </p:nvSpPr>
        <p:spPr>
          <a:xfrm>
            <a:off x="844906" y="1065276"/>
            <a:ext cx="4689958" cy="46863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298448" y="2788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200" dirty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PROJETO DE INTELIGÊNCIA ARTIFICIAL</a:t>
            </a:r>
          </a:p>
        </p:txBody>
      </p:sp>
      <p:sp>
        <p:nvSpPr>
          <p:cNvPr id="12" name="Text 10"/>
          <p:cNvSpPr/>
          <p:nvPr/>
        </p:nvSpPr>
        <p:spPr>
          <a:xfrm>
            <a:off x="1298448" y="315468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5400" b="1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Loja IA</a:t>
            </a:r>
          </a:p>
        </p:txBody>
      </p:sp>
      <p:sp>
        <p:nvSpPr>
          <p:cNvPr id="13" name="Text 11"/>
          <p:cNvSpPr/>
          <p:nvPr/>
        </p:nvSpPr>
        <p:spPr>
          <a:xfrm>
            <a:off x="1298448" y="41605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spcAft>
                <a:spcPts val="0"/>
              </a:spcAft>
              <a:buNone/>
            </a:pPr>
            <a:r>
              <a:rPr lang="pt-BR" sz="2000" dirty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Agente de compras com NestJS + Supabase</a:t>
            </a:r>
          </a:p>
        </p:txBody>
      </p:sp>
      <p:pic>
        <p:nvPicPr>
          <p:cNvPr id="90" name="Logo FAEX" descr="Logo FAE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1600200"/>
            <a:ext cx="1828800" cy="518160"/>
          </a:xfrm>
          <a:prstGeom prst="rect">
            <a:avLst/>
          </a:prstGeom>
        </p:spPr>
      </p:pic>
      <p:sp>
        <p:nvSpPr>
          <p:cNvPr id="101" name="Autor"/>
          <p:cNvSpPr/>
          <p:nvPr/>
        </p:nvSpPr>
        <p:spPr>
          <a:xfrm>
            <a:off x="6400800" y="2514600"/>
            <a:ext cx="4754880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pt-BR" sz="1200" dirty="0">
                <a:solidFill>
                  <a:srgbClr val="1D4ED8"/>
                </a:solidFill>
                <a:latin typeface="Poppins"/>
                <a:ea typeface="Poppins"/>
                <a:cs typeface="Poppins"/>
              </a:rPr>
              <a:t>APRESENTADO POR</a:t>
            </a:r>
          </a:p>
          <a:p>
            <a:pPr marL="0" indent="0" algn="l">
              <a:spcAft>
                <a:spcPts val="1000"/>
              </a:spcAft>
              <a:buNone/>
            </a:pPr>
            <a:r>
              <a:rPr lang="pt-BR" sz="3200" b="1" dirty="0">
                <a:solidFill>
                  <a:srgbClr val="3A3A3A"/>
                </a:solidFill>
                <a:latin typeface="Poppins SemiBold"/>
                <a:ea typeface="Poppins SemiBold"/>
                <a:cs typeface="Poppins SemiBold"/>
              </a:rPr>
              <a:t>Natã Pacheco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pt-BR" sz="1600" dirty="0">
                <a:solidFill>
                  <a:srgbClr val="595959"/>
                </a:solidFill>
                <a:latin typeface="Lato"/>
                <a:ea typeface="Lato"/>
                <a:cs typeface="Lato"/>
              </a:rPr>
              <a:t>Disciplina de Inteligência Artificial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pt-BR" sz="1600" dirty="0">
                <a:solidFill>
                  <a:srgbClr val="595959"/>
                </a:solidFill>
                <a:latin typeface="Lato"/>
                <a:ea typeface="Lato"/>
                <a:cs typeface="Lato"/>
              </a:rPr>
              <a:t>FAEX</a:t>
            </a:r>
          </a:p>
        </p:txBody>
      </p:sp>
      <p:sp>
        <p:nvSpPr>
          <p:cNvPr id="102" name="Barra autor"/>
          <p:cNvSpPr/>
          <p:nvPr/>
        </p:nvSpPr>
        <p:spPr>
          <a:xfrm>
            <a:off x="6126480" y="2606040"/>
            <a:ext cx="54864" cy="17830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7"/>
          <p:cNvSpPr/>
          <p:nvPr/>
        </p:nvSpPr>
        <p:spPr>
          <a:xfrm>
            <a:off x="1143000" y="32461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600" dirty="0">
                <a:solidFill>
                  <a:srgbClr val="3A3A3A"/>
                </a:solidFill>
                <a:latin typeface="Poppins"/>
                <a:ea typeface="Poppins"/>
                <a:cs typeface="Poppins"/>
              </a:rPr>
              <a:t>E se desse para simplesmente conversar?</a:t>
            </a:r>
          </a:p>
        </p:txBody>
      </p:sp>
      <p:sp>
        <p:nvSpPr>
          <p:cNvPr id="10" name="Text 8"/>
          <p:cNvSpPr/>
          <p:nvPr/>
        </p:nvSpPr>
        <p:spPr>
          <a:xfrm>
            <a:off x="1143000" y="370332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400" dirty="0">
                <a:solidFill>
                  <a:srgbClr val="595959"/>
                </a:solidFill>
                <a:latin typeface="Lato"/>
                <a:ea typeface="Lato"/>
                <a:cs typeface="Lato"/>
              </a:rPr>
              <a:t>O ideal é perguntar em linguagem natural, como faria a um vendedor, e receber a resposta com dados reais.</a:t>
            </a:r>
          </a:p>
        </p:txBody>
      </p:sp>
      <p:sp>
        <p:nvSpPr>
          <p:cNvPr id="11" name="Text 9"/>
          <p:cNvSpPr/>
          <p:nvPr/>
        </p:nvSpPr>
        <p:spPr>
          <a:xfrm>
            <a:off x="1143000" y="141732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spcAft>
                <a:spcPts val="0"/>
              </a:spcAft>
              <a:buNone/>
            </a:pPr>
            <a:r>
              <a:rPr lang="pt-BR" sz="2400" dirty="0">
                <a:solidFill>
                  <a:srgbClr val="594A42"/>
                </a:solidFill>
                <a:latin typeface="Poppins"/>
                <a:ea typeface="Poppins"/>
                <a:cs typeface="Poppins"/>
              </a:rPr>
              <a:t>Consultar produtos, estoque e fazer pedidos ainda exige navegar </a:t>
            </a:r>
            <a:r>
              <a:rPr lang="pt-BR" sz="2400" b="1" dirty="0">
                <a:solidFill>
                  <a:srgbClr val="1D4ED8"/>
                </a:solidFill>
                <a:latin typeface="Poppins SemiBold"/>
                <a:ea typeface="Poppins SemiBold"/>
                <a:cs typeface="Poppins SemiBold"/>
              </a:rPr>
              <a:t>telas e planilhas</a:t>
            </a:r>
            <a:r>
              <a:rPr lang="pt-BR" sz="2400" dirty="0">
                <a:solidFill>
                  <a:srgbClr val="594A42"/>
                </a:solidFill>
                <a:latin typeface="Poppins"/>
                <a:ea typeface="Poppins"/>
                <a:cs typeface="Poppins"/>
              </a:rPr>
              <a:t>.</a:t>
            </a:r>
          </a:p>
        </p:txBody>
      </p:sp>
      <p:sp>
        <p:nvSpPr>
          <p:cNvPr id="12" name="Shape 10"/>
          <p:cNvSpPr/>
          <p:nvPr/>
        </p:nvSpPr>
        <p:spPr>
          <a:xfrm>
            <a:off x="6847942" y="1640434"/>
            <a:ext cx="3889858" cy="3657600"/>
          </a:xfrm>
          <a:prstGeom prst="rect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3" name="Kicker"/>
          <p:cNvSpPr/>
          <p:nvPr/>
        </p:nvSpPr>
        <p:spPr>
          <a:xfrm>
            <a:off x="1143000" y="1051560"/>
            <a:ext cx="4343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300" dirty="0">
                <a:solidFill>
                  <a:srgbClr val="1D4ED8"/>
                </a:solidFill>
                <a:latin typeface="Poppins"/>
                <a:ea typeface="Poppins"/>
                <a:cs typeface="Poppins"/>
              </a:rPr>
              <a:t>O PROBLEMA</a:t>
            </a:r>
          </a:p>
        </p:txBody>
      </p:sp>
      <p:sp>
        <p:nvSpPr>
          <p:cNvPr id="104" name="Solucao"/>
          <p:cNvSpPr/>
          <p:nvPr/>
        </p:nvSpPr>
        <p:spPr>
          <a:xfrm>
            <a:off x="7259422" y="2051914"/>
            <a:ext cx="3066898" cy="2834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Aft>
                <a:spcPts val="1000"/>
              </a:spcAft>
              <a:buNone/>
            </a:pPr>
            <a:r>
              <a:rPr lang="pt-BR" sz="1300" dirty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 SOLUÇÃO</a:t>
            </a:r>
          </a:p>
          <a:p>
            <a:pPr marL="0" indent="0" algn="l">
              <a:spcAft>
                <a:spcPts val="1200"/>
              </a:spcAft>
              <a:buNone/>
            </a:pPr>
            <a:r>
              <a:rPr lang="pt-BR" sz="2800" b="1" dirty="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</a:rPr>
              <a:t>Um chat com IA</a:t>
            </a:r>
          </a:p>
          <a:p>
            <a:pPr marL="0" indent="0" algn="l">
              <a:lnSpc>
                <a:spcPct val="105000"/>
              </a:lnSpc>
              <a:spcAft>
                <a:spcPts val="800"/>
              </a:spcAft>
              <a:buNone/>
            </a:pPr>
            <a:r>
              <a:rPr lang="pt-BR" sz="150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Consulta o banco real de produtos e estoque.</a:t>
            </a:r>
          </a:p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pt-BR" sz="150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Cria pedidos com aprovação humana antes de confirmar.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22"/>
          <p:cNvSpPr/>
          <p:nvPr/>
        </p:nvSpPr>
        <p:spPr>
          <a:xfrm>
            <a:off x="3200400" y="777240"/>
            <a:ext cx="5788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3200" b="1" dirty="0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</a:rPr>
              <a:t>Arquitetura</a:t>
            </a:r>
          </a:p>
        </p:txBody>
      </p:sp>
      <p:sp>
        <p:nvSpPr>
          <p:cNvPr id="25" name="Text 23"/>
          <p:cNvSpPr/>
          <p:nvPr/>
        </p:nvSpPr>
        <p:spPr>
          <a:xfrm>
            <a:off x="2194560" y="1417320"/>
            <a:ext cx="7799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5000"/>
              </a:lnSpc>
              <a:spcAft>
                <a:spcPts val="0"/>
              </a:spcAft>
              <a:buNone/>
            </a:pPr>
            <a:r>
              <a:rPr lang="pt-BR" sz="1400" dirty="0">
                <a:solidFill>
                  <a:srgbClr val="595959"/>
                </a:solidFill>
                <a:latin typeface="Lato"/>
                <a:ea typeface="Lato"/>
                <a:cs typeface="Lato"/>
              </a:rPr>
              <a:t>Uma cadeia simples: o navegador só conversa com o backend, que concentra o agente, as tools e o acesso ao banco.</a:t>
            </a:r>
          </a:p>
        </p:txBody>
      </p:sp>
      <p:sp>
        <p:nvSpPr>
          <p:cNvPr id="105" name="No 1"/>
          <p:cNvSpPr/>
          <p:nvPr/>
        </p:nvSpPr>
        <p:spPr>
          <a:xfrm>
            <a:off x="822960" y="2514600"/>
            <a:ext cx="2103120" cy="160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D4ED8"/>
            </a:solidFill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marL="0" indent="0" algn="ctr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400" dirty="0">
                <a:solidFill>
                  <a:srgbClr val="3A3A3A"/>
                </a:solidFill>
                <a:latin typeface="Lato"/>
                <a:ea typeface="Lato"/>
                <a:cs typeface="Lato"/>
              </a:rPr>
              <a:t>Chat no navegador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pt-BR" sz="1200" dirty="0">
                <a:solidFill>
                  <a:srgbClr val="808080"/>
                </a:solidFill>
                <a:latin typeface="Lato"/>
                <a:ea typeface="Lato"/>
                <a:cs typeface="Lato"/>
              </a:rPr>
              <a:t>React + Vite</a:t>
            </a:r>
          </a:p>
        </p:txBody>
      </p:sp>
      <p:sp>
        <p:nvSpPr>
          <p:cNvPr id="106" name="Rotulo 1"/>
          <p:cNvSpPr/>
          <p:nvPr/>
        </p:nvSpPr>
        <p:spPr>
          <a:xfrm>
            <a:off x="822960" y="4114800"/>
            <a:ext cx="2103120" cy="457200"/>
          </a:xfrm>
          <a:prstGeom prst="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1500" dirty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Front React</a:t>
            </a:r>
          </a:p>
        </p:txBody>
      </p:sp>
      <p:sp>
        <p:nvSpPr>
          <p:cNvPr id="107" name="Seta 1"/>
          <p:cNvSpPr/>
          <p:nvPr/>
        </p:nvSpPr>
        <p:spPr>
          <a:xfrm>
            <a:off x="3054096" y="3406140"/>
            <a:ext cx="454152" cy="329184"/>
          </a:xfrm>
          <a:prstGeom prst="rightArrow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8" name="No 2"/>
          <p:cNvSpPr/>
          <p:nvPr/>
        </p:nvSpPr>
        <p:spPr>
          <a:xfrm>
            <a:off x="3636264" y="2514600"/>
            <a:ext cx="2103120" cy="160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D4ED8"/>
            </a:solidFill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marL="0" indent="0" algn="ctr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400" dirty="0">
                <a:solidFill>
                  <a:srgbClr val="3A3A3A"/>
                </a:solidFill>
                <a:latin typeface="Lato"/>
                <a:ea typeface="Lato"/>
                <a:cs typeface="Lato"/>
              </a:rPr>
              <a:t>Requisição HTTP com a mensagem do usuário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pt-BR" sz="1200" dirty="0">
                <a:solidFill>
                  <a:srgbClr val="808080"/>
                </a:solidFill>
                <a:latin typeface="Lato"/>
                <a:ea typeface="Lato"/>
                <a:cs typeface="Lato"/>
              </a:rPr>
              <a:t>API do backend</a:t>
            </a:r>
          </a:p>
        </p:txBody>
      </p:sp>
      <p:sp>
        <p:nvSpPr>
          <p:cNvPr id="109" name="Rotulo 2"/>
          <p:cNvSpPr/>
          <p:nvPr/>
        </p:nvSpPr>
        <p:spPr>
          <a:xfrm>
            <a:off x="3636264" y="4114800"/>
            <a:ext cx="2103120" cy="457200"/>
          </a:xfrm>
          <a:prstGeom prst="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1500" dirty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POST /chat</a:t>
            </a:r>
          </a:p>
        </p:txBody>
      </p:sp>
      <p:sp>
        <p:nvSpPr>
          <p:cNvPr id="110" name="Seta 2"/>
          <p:cNvSpPr/>
          <p:nvPr/>
        </p:nvSpPr>
        <p:spPr>
          <a:xfrm>
            <a:off x="5867400" y="3406140"/>
            <a:ext cx="454152" cy="329184"/>
          </a:xfrm>
          <a:prstGeom prst="rightArrow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1" name="No 3"/>
          <p:cNvSpPr/>
          <p:nvPr/>
        </p:nvSpPr>
        <p:spPr>
          <a:xfrm>
            <a:off x="6449568" y="2514600"/>
            <a:ext cx="2103120" cy="160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D4ED8"/>
            </a:solidFill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marL="0" indent="0" algn="ctr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400" dirty="0" err="1">
                <a:solidFill>
                  <a:srgbClr val="3A3A3A"/>
                </a:solidFill>
                <a:latin typeface="Lato"/>
                <a:ea typeface="Lato"/>
                <a:cs typeface="Lato"/>
              </a:rPr>
              <a:t>Agents</a:t>
            </a:r>
            <a:r>
              <a:rPr lang="pt-BR" sz="1400" dirty="0">
                <a:solidFill>
                  <a:srgbClr val="3A3A3A"/>
                </a:solidFill>
                <a:latin typeface="Lato"/>
                <a:ea typeface="Lato"/>
                <a:cs typeface="Lato"/>
              </a:rPr>
              <a:t> + tools</a:t>
            </a:r>
          </a:p>
        </p:txBody>
      </p:sp>
      <p:sp>
        <p:nvSpPr>
          <p:cNvPr id="112" name="Rotulo 3"/>
          <p:cNvSpPr/>
          <p:nvPr/>
        </p:nvSpPr>
        <p:spPr>
          <a:xfrm>
            <a:off x="6449568" y="4114800"/>
            <a:ext cx="2103120" cy="457200"/>
          </a:xfrm>
          <a:prstGeom prst="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1500" dirty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Back NestJS</a:t>
            </a:r>
          </a:p>
        </p:txBody>
      </p:sp>
      <p:sp>
        <p:nvSpPr>
          <p:cNvPr id="113" name="Seta 3"/>
          <p:cNvSpPr/>
          <p:nvPr/>
        </p:nvSpPr>
        <p:spPr>
          <a:xfrm>
            <a:off x="8680704" y="3406140"/>
            <a:ext cx="454152" cy="329184"/>
          </a:xfrm>
          <a:prstGeom prst="rightArrow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4" name="No 4"/>
          <p:cNvSpPr/>
          <p:nvPr/>
        </p:nvSpPr>
        <p:spPr>
          <a:xfrm>
            <a:off x="9262872" y="2514600"/>
            <a:ext cx="2103120" cy="160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D4ED8"/>
            </a:solidFill>
          </a:ln>
        </p:spPr>
        <p:txBody>
          <a:bodyPr wrap="square" lIns="109728" tIns="109728" rIns="109728" bIns="109728" rtlCol="0" anchor="ctr">
            <a:normAutofit/>
          </a:bodyPr>
          <a:lstStyle/>
          <a:p>
            <a:pPr marL="0" indent="0" algn="ctr">
              <a:lnSpc>
                <a:spcPct val="105000"/>
              </a:lnSpc>
              <a:spcAft>
                <a:spcPts val="400"/>
              </a:spcAft>
              <a:buNone/>
            </a:pPr>
            <a:r>
              <a:rPr lang="pt-BR" sz="1400" dirty="0">
                <a:solidFill>
                  <a:srgbClr val="3A3A3A"/>
                </a:solidFill>
                <a:latin typeface="Lato"/>
                <a:ea typeface="Lato"/>
                <a:cs typeface="Lato"/>
              </a:rPr>
              <a:t>Postgres: tabela Produtos e pedidos</a:t>
            </a:r>
          </a:p>
          <a:p>
            <a:pPr marL="0" indent="0" algn="ctr">
              <a:spcAft>
                <a:spcPts val="0"/>
              </a:spcAft>
              <a:buNone/>
            </a:pPr>
            <a:r>
              <a:rPr lang="pt-BR" sz="1200" dirty="0">
                <a:solidFill>
                  <a:srgbClr val="808080"/>
                </a:solidFill>
                <a:latin typeface="Lato"/>
                <a:ea typeface="Lato"/>
                <a:cs typeface="Lato"/>
              </a:rPr>
              <a:t>via DATABASE_URL</a:t>
            </a:r>
          </a:p>
        </p:txBody>
      </p:sp>
      <p:sp>
        <p:nvSpPr>
          <p:cNvPr id="115" name="Rotulo 4"/>
          <p:cNvSpPr/>
          <p:nvPr/>
        </p:nvSpPr>
        <p:spPr>
          <a:xfrm>
            <a:off x="9262872" y="4114800"/>
            <a:ext cx="2103120" cy="457200"/>
          </a:xfrm>
          <a:prstGeom prst="rect">
            <a:avLst/>
          </a:prstGeom>
          <a:solidFill>
            <a:srgbClr val="1D4ED8"/>
          </a:solidFill>
          <a:ln w="15875">
            <a:solidFill>
              <a:srgbClr val="1D4ED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1500" dirty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Supabase</a:t>
            </a:r>
          </a:p>
        </p:txBody>
      </p:sp>
      <p:sp>
        <p:nvSpPr>
          <p:cNvPr id="116" name="Conector LLM"/>
          <p:cNvSpPr/>
          <p:nvPr/>
        </p:nvSpPr>
        <p:spPr>
          <a:xfrm>
            <a:off x="7501128" y="4572000"/>
            <a:ext cx="0" cy="548640"/>
          </a:xfrm>
          <a:prstGeom prst="line">
            <a:avLst/>
          </a:prstGeom>
          <a:noFill/>
          <a:ln w="19050">
            <a:solidFill>
              <a:srgbClr val="1D4ED8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117" name="LLM"/>
          <p:cNvSpPr/>
          <p:nvPr/>
        </p:nvSpPr>
        <p:spPr>
          <a:xfrm>
            <a:off x="6449568" y="5120640"/>
            <a:ext cx="2103120" cy="548640"/>
          </a:xfrm>
          <a:prstGeom prst="rect">
            <a:avLst/>
          </a:prstGeom>
          <a:solidFill>
            <a:srgbClr val="EEF2FD"/>
          </a:solidFill>
          <a:ln w="12700">
            <a:solidFill>
              <a:srgbClr val="1D4ED8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1300" b="1" dirty="0">
                <a:solidFill>
                  <a:srgbClr val="1D4ED8"/>
                </a:solidFill>
                <a:latin typeface="Poppins SemiBold"/>
                <a:ea typeface="Poppins SemiBold"/>
                <a:cs typeface="Poppins SemiBold"/>
              </a:rPr>
              <a:t>LLM (OpenAI)</a:t>
            </a:r>
          </a:p>
        </p:txBody>
      </p:sp>
      <p:sp>
        <p:nvSpPr>
          <p:cNvPr id="118" name="Nota LLM"/>
          <p:cNvSpPr/>
          <p:nvPr/>
        </p:nvSpPr>
        <p:spPr>
          <a:xfrm>
            <a:off x="822960" y="5120640"/>
            <a:ext cx="5398008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spcAft>
                <a:spcPts val="0"/>
              </a:spcAft>
              <a:buNone/>
            </a:pPr>
            <a:r>
              <a:rPr lang="pt-BR" sz="1200" dirty="0">
                <a:solidFill>
                  <a:srgbClr val="595959"/>
                </a:solidFill>
                <a:latin typeface="Lato"/>
                <a:ea typeface="Lato"/>
                <a:cs typeface="Lato"/>
              </a:rPr>
              <a:t>A LLM (OpenAI) é chamada só pelo backend, nunca pelo front.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7"/>
          <p:cNvSpPr/>
          <p:nvPr/>
        </p:nvSpPr>
        <p:spPr>
          <a:xfrm>
            <a:off x="2926080" y="777240"/>
            <a:ext cx="6336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3200" b="1" dirty="0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</a:rPr>
              <a:t>As 4 tools do agente</a:t>
            </a:r>
          </a:p>
        </p:txBody>
      </p:sp>
      <p:sp>
        <p:nvSpPr>
          <p:cNvPr id="10" name="Text 8"/>
          <p:cNvSpPr/>
          <p:nvPr/>
        </p:nvSpPr>
        <p:spPr>
          <a:xfrm>
            <a:off x="2194560" y="1417320"/>
            <a:ext cx="7799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5000"/>
              </a:lnSpc>
            </a:pPr>
            <a:r>
              <a:rPr lang="pt-BR" sz="1400" dirty="0">
                <a:solidFill>
                  <a:srgbClr val="595959"/>
                </a:solidFill>
                <a:latin typeface="Lato"/>
                <a:ea typeface="Lato"/>
                <a:cs typeface="Lato"/>
              </a:rPr>
              <a:t>Funções que o agente pode chamar a cada iteração; o backend as executa e devolve o resultado.</a:t>
            </a:r>
            <a:br>
              <a:rPr lang="pt-BR" sz="1400" dirty="0">
                <a:solidFill>
                  <a:srgbClr val="595959"/>
                </a:solidFill>
                <a:latin typeface="Lato"/>
                <a:ea typeface="Lato"/>
                <a:cs typeface="Lato"/>
              </a:rPr>
            </a:br>
            <a:r>
              <a:rPr lang="en-US" sz="1400" dirty="0">
                <a:solidFill>
                  <a:srgbClr val="595959"/>
                </a:solidFill>
                <a:latin typeface="Lato"/>
                <a:ea typeface="Lato"/>
                <a:cs typeface="Lato"/>
              </a:rPr>
              <a:t>back/</a:t>
            </a:r>
            <a:r>
              <a:rPr lang="en-US" sz="1400" dirty="0" err="1">
                <a:solidFill>
                  <a:srgbClr val="595959"/>
                </a:solidFill>
                <a:latin typeface="Lato"/>
                <a:ea typeface="Lato"/>
                <a:cs typeface="Lato"/>
              </a:rPr>
              <a:t>src</a:t>
            </a:r>
            <a:r>
              <a:rPr lang="en-US" sz="1400" dirty="0">
                <a:solidFill>
                  <a:srgbClr val="595959"/>
                </a:solidFill>
                <a:latin typeface="Lato"/>
                <a:ea typeface="Lato"/>
                <a:cs typeface="Lato"/>
              </a:rPr>
              <a:t>/agents/</a:t>
            </a:r>
            <a:r>
              <a:rPr lang="en-US" sz="1400" dirty="0" err="1">
                <a:solidFill>
                  <a:srgbClr val="595959"/>
                </a:solidFill>
                <a:latin typeface="Lato"/>
                <a:ea typeface="Lato"/>
                <a:cs typeface="Lato"/>
              </a:rPr>
              <a:t>tools.service.ts</a:t>
            </a:r>
            <a:endParaRPr lang="pt-BR" sz="1400" dirty="0">
              <a:solidFill>
                <a:srgbClr val="595959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104" name="Barra tool 1"/>
          <p:cNvSpPr/>
          <p:nvPr/>
        </p:nvSpPr>
        <p:spPr>
          <a:xfrm>
            <a:off x="1463040" y="2560320"/>
            <a:ext cx="64008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5" name="Tool 1"/>
          <p:cNvSpPr/>
          <p:nvPr/>
        </p:nvSpPr>
        <p:spPr>
          <a:xfrm>
            <a:off x="1737360" y="2542032"/>
            <a:ext cx="429768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pt-BR" sz="1400" dirty="0">
                <a:solidFill>
                  <a:srgbClr val="808080"/>
                </a:solidFill>
                <a:latin typeface="Poppins"/>
                <a:ea typeface="Poppins"/>
                <a:cs typeface="Poppins"/>
              </a:rPr>
              <a:t>01  </a:t>
            </a:r>
            <a:r>
              <a:rPr lang="pt-BR" sz="2000" b="1" dirty="0">
                <a:solidFill>
                  <a:srgbClr val="1D4ED8"/>
                </a:solidFill>
                <a:latin typeface="Poppins SemiBold"/>
                <a:ea typeface="Poppins SemiBold"/>
                <a:cs typeface="Poppins SemiBold"/>
              </a:rPr>
              <a:t>buscar_produtos</a:t>
            </a:r>
          </a:p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pt-BR" sz="1500" dirty="0">
                <a:solidFill>
                  <a:srgbClr val="3A3A3A"/>
                </a:solidFill>
                <a:latin typeface="Lato"/>
                <a:ea typeface="Lato"/>
                <a:cs typeface="Lato"/>
              </a:rPr>
              <a:t>Procura produtos por nome na tabela Produtos.</a:t>
            </a:r>
          </a:p>
        </p:txBody>
      </p:sp>
      <p:sp>
        <p:nvSpPr>
          <p:cNvPr id="106" name="Barra tool 2"/>
          <p:cNvSpPr/>
          <p:nvPr/>
        </p:nvSpPr>
        <p:spPr>
          <a:xfrm>
            <a:off x="6583680" y="2560320"/>
            <a:ext cx="64008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7" name="Tool 2"/>
          <p:cNvSpPr/>
          <p:nvPr/>
        </p:nvSpPr>
        <p:spPr>
          <a:xfrm>
            <a:off x="6858000" y="2542032"/>
            <a:ext cx="429768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pt-BR" sz="1400" dirty="0">
                <a:solidFill>
                  <a:srgbClr val="808080"/>
                </a:solidFill>
                <a:latin typeface="Poppins"/>
                <a:ea typeface="Poppins"/>
                <a:cs typeface="Poppins"/>
              </a:rPr>
              <a:t>02  </a:t>
            </a:r>
            <a:r>
              <a:rPr lang="pt-BR" sz="2000" b="1" dirty="0">
                <a:solidFill>
                  <a:srgbClr val="1D4ED8"/>
                </a:solidFill>
                <a:latin typeface="Poppins SemiBold"/>
                <a:ea typeface="Poppins SemiBold"/>
                <a:cs typeface="Poppins SemiBold"/>
              </a:rPr>
              <a:t>consultar_estoque</a:t>
            </a:r>
          </a:p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pt-BR" sz="1500" dirty="0">
                <a:solidFill>
                  <a:srgbClr val="3A3A3A"/>
                </a:solidFill>
                <a:latin typeface="Lato"/>
                <a:ea typeface="Lato"/>
                <a:cs typeface="Lato"/>
              </a:rPr>
              <a:t>Retorna a quantidade disponível de um produto.</a:t>
            </a:r>
          </a:p>
        </p:txBody>
      </p:sp>
      <p:sp>
        <p:nvSpPr>
          <p:cNvPr id="108" name="Barra tool 3"/>
          <p:cNvSpPr/>
          <p:nvPr/>
        </p:nvSpPr>
        <p:spPr>
          <a:xfrm>
            <a:off x="1463040" y="4343400"/>
            <a:ext cx="64008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9" name="Tool 3"/>
          <p:cNvSpPr/>
          <p:nvPr/>
        </p:nvSpPr>
        <p:spPr>
          <a:xfrm>
            <a:off x="1737360" y="4325112"/>
            <a:ext cx="429768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pt-BR" sz="1400" dirty="0">
                <a:solidFill>
                  <a:srgbClr val="808080"/>
                </a:solidFill>
                <a:latin typeface="Poppins"/>
                <a:ea typeface="Poppins"/>
                <a:cs typeface="Poppins"/>
              </a:rPr>
              <a:t>03  </a:t>
            </a:r>
            <a:r>
              <a:rPr lang="pt-BR" sz="2000" b="1" dirty="0">
                <a:solidFill>
                  <a:srgbClr val="1D4ED8"/>
                </a:solidFill>
                <a:latin typeface="Poppins SemiBold"/>
                <a:ea typeface="Poppins SemiBold"/>
                <a:cs typeface="Poppins SemiBold"/>
              </a:rPr>
              <a:t>calcular_total</a:t>
            </a:r>
          </a:p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pt-BR" sz="1500" dirty="0">
                <a:solidFill>
                  <a:srgbClr val="3A3A3A"/>
                </a:solidFill>
                <a:latin typeface="Lato"/>
                <a:ea typeface="Lato"/>
                <a:cs typeface="Lato"/>
              </a:rPr>
              <a:t>Calcula o valor: preço × quantidade.</a:t>
            </a:r>
          </a:p>
        </p:txBody>
      </p:sp>
      <p:sp>
        <p:nvSpPr>
          <p:cNvPr id="110" name="Barra tool 4"/>
          <p:cNvSpPr/>
          <p:nvPr/>
        </p:nvSpPr>
        <p:spPr>
          <a:xfrm>
            <a:off x="6583680" y="4343400"/>
            <a:ext cx="64008" cy="1143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1" name="Tool 4"/>
          <p:cNvSpPr/>
          <p:nvPr/>
        </p:nvSpPr>
        <p:spPr>
          <a:xfrm>
            <a:off x="6858000" y="4325112"/>
            <a:ext cx="429768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lang="pt-BR" sz="1400" dirty="0">
                <a:solidFill>
                  <a:srgbClr val="808080"/>
                </a:solidFill>
                <a:latin typeface="Poppins"/>
                <a:ea typeface="Poppins"/>
                <a:cs typeface="Poppins"/>
              </a:rPr>
              <a:t>04  </a:t>
            </a:r>
            <a:r>
              <a:rPr lang="pt-BR" sz="2000" b="1" dirty="0">
                <a:solidFill>
                  <a:srgbClr val="1D4ED8"/>
                </a:solidFill>
                <a:latin typeface="Poppins SemiBold"/>
                <a:ea typeface="Poppins SemiBold"/>
                <a:cs typeface="Poppins SemiBold"/>
              </a:rPr>
              <a:t>criar_pedido</a:t>
            </a:r>
          </a:p>
          <a:p>
            <a:pPr marL="0" indent="0"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pt-BR" sz="1500" dirty="0">
                <a:solidFill>
                  <a:srgbClr val="3A3A3A"/>
                </a:solidFill>
                <a:latin typeface="Lato"/>
                <a:ea typeface="Lato"/>
                <a:cs typeface="Lato"/>
              </a:rPr>
              <a:t>Cria o pedido como pendente de aprovação.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7"/>
          <p:cNvSpPr/>
          <p:nvPr/>
        </p:nvSpPr>
        <p:spPr>
          <a:xfrm>
            <a:off x="3911803" y="1898294"/>
            <a:ext cx="4134917" cy="2497684"/>
          </a:xfrm>
          <a:prstGeom prst="roundRect">
            <a:avLst>
              <a:gd name="adj" fmla="val 1098"/>
            </a:avLst>
          </a:prstGeom>
          <a:solidFill>
            <a:srgbClr val="18181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073065" y="2068137"/>
            <a:ext cx="3812393" cy="2157999"/>
          </a:xfrm>
          <a:prstGeom prst="rect">
            <a:avLst/>
          </a:prstGeom>
          <a:solidFill>
            <a:srgbClr val="0C0D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089605" y="2088118"/>
            <a:ext cx="3775179" cy="2121366"/>
          </a:xfrm>
          <a:prstGeom prst="rect">
            <a:avLst/>
          </a:prstGeom>
          <a:solidFill>
            <a:srgbClr val="EFEFE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5954452" y="1968230"/>
            <a:ext cx="45720" cy="45720"/>
          </a:xfrm>
          <a:prstGeom prst="ellipse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911803" y="4399308"/>
            <a:ext cx="4134917" cy="392969"/>
          </a:xfrm>
          <a:prstGeom prst="rect">
            <a:avLst/>
          </a:prstGeom>
          <a:solidFill>
            <a:srgbClr val="D2D3D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5268056" y="4732333"/>
            <a:ext cx="1405872" cy="482885"/>
          </a:xfrm>
          <a:prstGeom prst="rect">
            <a:avLst/>
          </a:prstGeom>
          <a:solidFill>
            <a:srgbClr val="D2D3D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5268056" y="4732333"/>
            <a:ext cx="1137102" cy="482885"/>
          </a:xfrm>
          <a:prstGeom prst="rect">
            <a:avLst/>
          </a:prstGeom>
          <a:solidFill>
            <a:srgbClr val="A8A9A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276326" y="5171925"/>
            <a:ext cx="1393467" cy="56614"/>
          </a:xfrm>
          <a:prstGeom prst="roundRect">
            <a:avLst>
              <a:gd name="adj" fmla="val 807574"/>
            </a:avLst>
          </a:prstGeom>
          <a:solidFill>
            <a:srgbClr val="18181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963924" y="1051560"/>
            <a:ext cx="403616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3400" b="1" dirty="0">
                <a:solidFill>
                  <a:srgbClr val="1D4ED8"/>
                </a:solidFill>
                <a:latin typeface="Poppins SemiBold"/>
                <a:ea typeface="Poppins SemiBold"/>
                <a:cs typeface="Poppins SemiBold"/>
              </a:rPr>
              <a:t>Demo</a:t>
            </a:r>
          </a:p>
        </p:txBody>
      </p:sp>
      <p:sp>
        <p:nvSpPr>
          <p:cNvPr id="18" name="Text 16"/>
          <p:cNvSpPr/>
          <p:nvPr/>
        </p:nvSpPr>
        <p:spPr>
          <a:xfrm>
            <a:off x="457200" y="2377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spcAft>
                <a:spcPts val="0"/>
              </a:spcAft>
              <a:buNone/>
            </a:pPr>
            <a:r>
              <a:rPr lang="pt-BR" sz="2600" dirty="0">
                <a:solidFill>
                  <a:srgbClr val="595959"/>
                </a:solidFill>
                <a:latin typeface="Poppins"/>
                <a:ea typeface="Poppins"/>
                <a:cs typeface="Poppins"/>
              </a:rPr>
              <a:t>Roteiro ao vivo</a:t>
            </a:r>
          </a:p>
        </p:txBody>
      </p:sp>
      <p:sp>
        <p:nvSpPr>
          <p:cNvPr id="19" name="Text 17"/>
          <p:cNvSpPr/>
          <p:nvPr/>
        </p:nvSpPr>
        <p:spPr>
          <a:xfrm>
            <a:off x="457200" y="29718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spcAft>
                <a:spcPts val="0"/>
              </a:spcAft>
              <a:buNone/>
            </a:pPr>
            <a:r>
              <a:rPr lang="pt-BR" sz="3200" b="1" dirty="0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</a:rPr>
              <a:t>5 passos</a:t>
            </a:r>
          </a:p>
        </p:txBody>
      </p:sp>
      <p:sp>
        <p:nvSpPr>
          <p:cNvPr id="20" name="Text 18"/>
          <p:cNvSpPr/>
          <p:nvPr/>
        </p:nvSpPr>
        <p:spPr>
          <a:xfrm>
            <a:off x="685800" y="36576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400" dirty="0">
                <a:solidFill>
                  <a:srgbClr val="595959"/>
                </a:solidFill>
                <a:latin typeface="Lato"/>
                <a:ea typeface="Lato"/>
                <a:cs typeface="Lato"/>
              </a:rPr>
              <a:t>Tudo pelo chat da Loja IA, com o banco real por trás.</a:t>
            </a:r>
          </a:p>
        </p:txBody>
      </p:sp>
      <p:sp>
        <p:nvSpPr>
          <p:cNvPr id="21" name="Text 19"/>
          <p:cNvSpPr/>
          <p:nvPr/>
        </p:nvSpPr>
        <p:spPr>
          <a:xfrm>
            <a:off x="8374990" y="347472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400" dirty="0">
                <a:solidFill>
                  <a:srgbClr val="595959"/>
                </a:solidFill>
                <a:latin typeface="Lato"/>
                <a:ea typeface="Lato"/>
                <a:cs typeface="Lato"/>
              </a:rPr>
              <a:t>Aprovar baixa o estoque; rejeitar mantém. Pedidos acima do estoque e prompt injection são recusados.</a:t>
            </a:r>
          </a:p>
        </p:txBody>
      </p:sp>
      <p:sp>
        <p:nvSpPr>
          <p:cNvPr id="22" name="Text 20"/>
          <p:cNvSpPr/>
          <p:nvPr/>
        </p:nvSpPr>
        <p:spPr>
          <a:xfrm>
            <a:off x="8374990" y="3017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800" dirty="0">
                <a:solidFill>
                  <a:srgbClr val="3A3A3A"/>
                </a:solidFill>
                <a:latin typeface="Poppins"/>
                <a:ea typeface="Poppins"/>
                <a:cs typeface="Poppins"/>
              </a:rPr>
              <a:t>Guardrails em ação</a:t>
            </a:r>
          </a:p>
        </p:txBody>
      </p:sp>
      <p:sp>
        <p:nvSpPr>
          <p:cNvPr id="23" name="Text 21"/>
          <p:cNvSpPr/>
          <p:nvPr/>
        </p:nvSpPr>
        <p:spPr>
          <a:xfrm>
            <a:off x="8374990" y="23774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3000" b="1" dirty="0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</a:rPr>
              <a:t>O que provar</a:t>
            </a:r>
          </a:p>
        </p:txBody>
      </p:sp>
      <p:sp>
        <p:nvSpPr>
          <p:cNvPr id="102" name="Passos demo"/>
          <p:cNvSpPr/>
          <p:nvPr/>
        </p:nvSpPr>
        <p:spPr>
          <a:xfrm>
            <a:off x="4169664" y="2121408"/>
            <a:ext cx="3657600" cy="20665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pt-BR" sz="1400" b="1" dirty="0">
                <a:solidFill>
                  <a:srgbClr val="1D4ED8"/>
                </a:solidFill>
                <a:latin typeface="Poppins SemiBold"/>
                <a:ea typeface="Poppins SemiBold"/>
                <a:cs typeface="Poppins SemiBold"/>
              </a:rPr>
              <a:t>1  </a:t>
            </a:r>
            <a:r>
              <a:rPr lang="pt-BR" sz="1400" b="1" dirty="0">
                <a:solidFill>
                  <a:srgbClr val="3A3A3A"/>
                </a:solidFill>
                <a:latin typeface="Lato"/>
                <a:ea typeface="Lato"/>
                <a:cs typeface="Lato"/>
              </a:rPr>
              <a:t>“Quais produtos vocês têm?”</a:t>
            </a:r>
          </a:p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pt-BR" sz="1400" b="1" dirty="0">
                <a:solidFill>
                  <a:srgbClr val="1D4ED8"/>
                </a:solidFill>
                <a:latin typeface="Poppins SemiBold"/>
                <a:ea typeface="Poppins SemiBold"/>
                <a:cs typeface="Poppins SemiBold"/>
              </a:rPr>
              <a:t>2  </a:t>
            </a:r>
            <a:r>
              <a:rPr lang="pt-BR" sz="1400" b="1" dirty="0">
                <a:solidFill>
                  <a:srgbClr val="3A3A3A"/>
                </a:solidFill>
                <a:latin typeface="Lato"/>
                <a:ea typeface="Lato"/>
                <a:cs typeface="Lato"/>
              </a:rPr>
              <a:t>“Quero 2 unidades de X”</a:t>
            </a:r>
            <a:r>
              <a:rPr lang="pt-BR" sz="1400" dirty="0">
                <a:solidFill>
                  <a:srgbClr val="595959"/>
                </a:solidFill>
                <a:latin typeface="Lato"/>
                <a:ea typeface="Lato"/>
                <a:cs typeface="Lato"/>
              </a:rPr>
              <a:t> → aprovar → baixa</a:t>
            </a:r>
          </a:p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pt-BR" sz="1400" b="1" dirty="0">
                <a:solidFill>
                  <a:srgbClr val="1D4ED8"/>
                </a:solidFill>
                <a:latin typeface="Poppins SemiBold"/>
                <a:ea typeface="Poppins SemiBold"/>
                <a:cs typeface="Poppins SemiBold"/>
              </a:rPr>
              <a:t>3  </a:t>
            </a:r>
            <a:r>
              <a:rPr lang="pt-BR" sz="1400" b="1" dirty="0">
                <a:solidFill>
                  <a:srgbClr val="3A3A3A"/>
                </a:solidFill>
                <a:latin typeface="Lato"/>
                <a:ea typeface="Lato"/>
                <a:cs typeface="Lato"/>
              </a:rPr>
              <a:t>Novo pedido</a:t>
            </a:r>
            <a:r>
              <a:rPr lang="pt-BR" sz="1400" dirty="0">
                <a:solidFill>
                  <a:srgbClr val="595959"/>
                </a:solidFill>
                <a:latin typeface="Lato"/>
                <a:ea typeface="Lato"/>
                <a:cs typeface="Lato"/>
              </a:rPr>
              <a:t> → rejeitar → mantém</a:t>
            </a:r>
          </a:p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pt-BR" sz="1400" b="1" dirty="0">
                <a:solidFill>
                  <a:srgbClr val="1D4ED8"/>
                </a:solidFill>
                <a:latin typeface="Poppins SemiBold"/>
                <a:ea typeface="Poppins SemiBold"/>
                <a:cs typeface="Poppins SemiBold"/>
              </a:rPr>
              <a:t>4  </a:t>
            </a:r>
            <a:r>
              <a:rPr lang="pt-BR" sz="1400" b="1" dirty="0">
                <a:solidFill>
                  <a:srgbClr val="3A3A3A"/>
                </a:solidFill>
                <a:latin typeface="Lato"/>
                <a:ea typeface="Lato"/>
                <a:cs typeface="Lato"/>
              </a:rPr>
              <a:t>Pedido acima do estoque</a:t>
            </a:r>
            <a:r>
              <a:rPr lang="pt-BR" sz="1400" dirty="0">
                <a:solidFill>
                  <a:srgbClr val="595959"/>
                </a:solidFill>
                <a:latin typeface="Lato"/>
                <a:ea typeface="Lato"/>
                <a:cs typeface="Lato"/>
              </a:rPr>
              <a:t> → recusa</a:t>
            </a:r>
          </a:p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pt-BR" sz="1400" b="1" dirty="0">
                <a:solidFill>
                  <a:srgbClr val="1D4ED8"/>
                </a:solidFill>
                <a:latin typeface="Poppins SemiBold"/>
                <a:ea typeface="Poppins SemiBold"/>
                <a:cs typeface="Poppins SemiBold"/>
              </a:rPr>
              <a:t>5  </a:t>
            </a:r>
            <a:r>
              <a:rPr lang="pt-BR" sz="1400" b="1" dirty="0">
                <a:solidFill>
                  <a:srgbClr val="3A3A3A"/>
                </a:solidFill>
                <a:latin typeface="Lato"/>
                <a:ea typeface="Lato"/>
                <a:cs typeface="Lato"/>
              </a:rPr>
              <a:t>Prompt injection</a:t>
            </a:r>
            <a:r>
              <a:rPr lang="pt-BR" sz="1400" dirty="0">
                <a:solidFill>
                  <a:srgbClr val="595959"/>
                </a:solidFill>
                <a:latin typeface="Lato"/>
                <a:ea typeface="Lato"/>
                <a:cs typeface="Lato"/>
              </a:rPr>
              <a:t> → recusa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8"/>
          <p:cNvSpPr/>
          <p:nvPr/>
        </p:nvSpPr>
        <p:spPr>
          <a:xfrm>
            <a:off x="1097280" y="1463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300" dirty="0">
                <a:solidFill>
                  <a:srgbClr val="1D4ED8"/>
                </a:solidFill>
                <a:latin typeface="Poppins"/>
                <a:ea typeface="Poppins"/>
                <a:cs typeface="Poppins"/>
              </a:rPr>
              <a:t>O QUE DECIDIMOS</a:t>
            </a:r>
          </a:p>
        </p:txBody>
      </p:sp>
      <p:sp>
        <p:nvSpPr>
          <p:cNvPr id="11" name="Text 9"/>
          <p:cNvSpPr/>
          <p:nvPr/>
        </p:nvSpPr>
        <p:spPr>
          <a:xfrm>
            <a:off x="6766560" y="18288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3800" b="1" dirty="0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</a:rPr>
              <a:t>Próximos passos</a:t>
            </a:r>
          </a:p>
        </p:txBody>
      </p:sp>
      <p:sp>
        <p:nvSpPr>
          <p:cNvPr id="12" name="Text 10"/>
          <p:cNvSpPr/>
          <p:nvPr/>
        </p:nvSpPr>
        <p:spPr>
          <a:xfrm>
            <a:off x="1097280" y="288036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0040" indent="-320040" algn="l">
              <a:lnSpc>
                <a:spcPct val="105000"/>
              </a:lnSpc>
              <a:spcAft>
                <a:spcPts val="2000"/>
              </a:spcAft>
              <a:buNone/>
            </a:pPr>
            <a:r>
              <a:rPr lang="pt-BR" sz="1800" b="1" dirty="0">
                <a:solidFill>
                  <a:srgbClr val="1D4ED8"/>
                </a:solidFill>
                <a:latin typeface="Poppins SemiBold"/>
                <a:ea typeface="Poppins SemiBold"/>
                <a:cs typeface="Poppins SemiBold"/>
              </a:rPr>
              <a:t>—  </a:t>
            </a:r>
            <a:r>
              <a:rPr lang="pt-BR" sz="1800" dirty="0">
                <a:solidFill>
                  <a:srgbClr val="3A3A3A"/>
                </a:solidFill>
                <a:latin typeface="Lato"/>
                <a:ea typeface="Lato"/>
                <a:cs typeface="Lato"/>
              </a:rPr>
              <a:t>n8n removido para simplificar e focar no agente</a:t>
            </a:r>
          </a:p>
          <a:p>
            <a:pPr marL="320040" indent="-320040" algn="l">
              <a:lnSpc>
                <a:spcPct val="105000"/>
              </a:lnSpc>
              <a:spcAft>
                <a:spcPts val="2000"/>
              </a:spcAft>
              <a:buNone/>
            </a:pPr>
            <a:r>
              <a:rPr lang="pt-BR" sz="1800" b="1" dirty="0">
                <a:solidFill>
                  <a:srgbClr val="1D4ED8"/>
                </a:solidFill>
                <a:latin typeface="Poppins SemiBold"/>
                <a:ea typeface="Poppins SemiBold"/>
                <a:cs typeface="Poppins SemiBold"/>
              </a:rPr>
              <a:t>—  </a:t>
            </a:r>
            <a:r>
              <a:rPr lang="pt-BR" sz="1800" dirty="0">
                <a:solidFill>
                  <a:srgbClr val="3A3A3A"/>
                </a:solidFill>
                <a:latin typeface="Lato"/>
                <a:ea typeface="Lato"/>
                <a:cs typeface="Lato"/>
              </a:rPr>
              <a:t>Nest como cérebro único</a:t>
            </a:r>
          </a:p>
          <a:p>
            <a:pPr marL="320040" indent="-320040" algn="l">
              <a:lnSpc>
                <a:spcPct val="105000"/>
              </a:lnSpc>
              <a:spcAft>
                <a:spcPts val="2000"/>
              </a:spcAft>
              <a:buNone/>
            </a:pPr>
            <a:r>
              <a:rPr lang="pt-BR" sz="1800" b="1" dirty="0">
                <a:solidFill>
                  <a:srgbClr val="1D4ED8"/>
                </a:solidFill>
                <a:latin typeface="Poppins SemiBold"/>
                <a:ea typeface="Poppins SemiBold"/>
                <a:cs typeface="Poppins SemiBold"/>
              </a:rPr>
              <a:t>—  </a:t>
            </a:r>
            <a:r>
              <a:rPr lang="pt-BR" sz="1800" dirty="0">
                <a:solidFill>
                  <a:srgbClr val="3A3A3A"/>
                </a:solidFill>
                <a:latin typeface="Lato"/>
                <a:ea typeface="Lato"/>
                <a:cs typeface="Lato"/>
              </a:rPr>
              <a:t>Aprovação humana antes de alterar o estoque</a:t>
            </a:r>
          </a:p>
        </p:txBody>
      </p:sp>
      <p:sp>
        <p:nvSpPr>
          <p:cNvPr id="13" name="Text 11"/>
          <p:cNvSpPr/>
          <p:nvPr/>
        </p:nvSpPr>
        <p:spPr>
          <a:xfrm>
            <a:off x="6766560" y="288036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0040" indent="-320040" algn="l">
              <a:lnSpc>
                <a:spcPct val="105000"/>
              </a:lnSpc>
              <a:spcAft>
                <a:spcPts val="2000"/>
              </a:spcAft>
              <a:buNone/>
            </a:pPr>
            <a:r>
              <a:rPr lang="pt-BR" sz="1800" b="1" dirty="0">
                <a:solidFill>
                  <a:srgbClr val="1D4ED8"/>
                </a:solidFill>
                <a:latin typeface="Poppins SemiBold"/>
                <a:ea typeface="Poppins SemiBold"/>
                <a:cs typeface="Poppins SemiBold"/>
              </a:rPr>
              <a:t>—  </a:t>
            </a:r>
            <a:r>
              <a:rPr lang="pt-BR" sz="1800" dirty="0">
                <a:solidFill>
                  <a:srgbClr val="3A3A3A"/>
                </a:solidFill>
                <a:latin typeface="Lato"/>
                <a:ea typeface="Lato"/>
                <a:cs typeface="Lato"/>
              </a:rPr>
              <a:t>RAG com as descrições dos produtos</a:t>
            </a:r>
          </a:p>
          <a:p>
            <a:pPr marL="320040" indent="-320040" algn="l">
              <a:lnSpc>
                <a:spcPct val="105000"/>
              </a:lnSpc>
              <a:spcAft>
                <a:spcPts val="2000"/>
              </a:spcAft>
              <a:buNone/>
            </a:pPr>
            <a:r>
              <a:rPr lang="pt-BR" sz="1800" b="1" dirty="0">
                <a:solidFill>
                  <a:srgbClr val="1D4ED8"/>
                </a:solidFill>
                <a:latin typeface="Poppins SemiBold"/>
                <a:ea typeface="Poppins SemiBold"/>
                <a:cs typeface="Poppins SemiBold"/>
              </a:rPr>
              <a:t>—  </a:t>
            </a:r>
            <a:r>
              <a:rPr lang="pt-BR" sz="1800" dirty="0">
                <a:solidFill>
                  <a:srgbClr val="3A3A3A"/>
                </a:solidFill>
                <a:latin typeface="Lato"/>
                <a:ea typeface="Lato"/>
                <a:cs typeface="Lato"/>
              </a:rPr>
              <a:t>Autenticação de usuários</a:t>
            </a:r>
          </a:p>
          <a:p>
            <a:pPr marL="320040" indent="-320040" algn="l">
              <a:lnSpc>
                <a:spcPct val="105000"/>
              </a:lnSpc>
              <a:spcAft>
                <a:spcPts val="2000"/>
              </a:spcAft>
              <a:buNone/>
            </a:pPr>
            <a:r>
              <a:rPr lang="pt-BR" sz="1800" b="1" dirty="0">
                <a:solidFill>
                  <a:srgbClr val="1D4ED8"/>
                </a:solidFill>
                <a:latin typeface="Poppins SemiBold"/>
                <a:ea typeface="Poppins SemiBold"/>
                <a:cs typeface="Poppins SemiBold"/>
              </a:rPr>
              <a:t>—  </a:t>
            </a:r>
            <a:r>
              <a:rPr lang="pt-BR" sz="1800" dirty="0">
                <a:solidFill>
                  <a:srgbClr val="3A3A3A"/>
                </a:solidFill>
                <a:latin typeface="Lato"/>
                <a:ea typeface="Lato"/>
                <a:cs typeface="Lato"/>
              </a:rPr>
              <a:t>Deploy em nuvem (AWS)</a:t>
            </a:r>
          </a:p>
          <a:p>
            <a:pPr marL="320040" indent="-320040" algn="l">
              <a:lnSpc>
                <a:spcPct val="105000"/>
              </a:lnSpc>
              <a:spcAft>
                <a:spcPts val="2000"/>
              </a:spcAft>
              <a:buNone/>
            </a:pPr>
            <a:r>
              <a:rPr lang="pt-BR" sz="1800" b="1" dirty="0">
                <a:solidFill>
                  <a:srgbClr val="1D4ED8"/>
                </a:solidFill>
                <a:latin typeface="Poppins SemiBold"/>
                <a:ea typeface="Poppins SemiBold"/>
                <a:cs typeface="Poppins SemiBold"/>
              </a:rPr>
              <a:t>—  </a:t>
            </a:r>
            <a:r>
              <a:rPr lang="pt-BR" sz="1800" dirty="0">
                <a:solidFill>
                  <a:srgbClr val="3A3A3A"/>
                </a:solidFill>
                <a:latin typeface="Lato"/>
                <a:ea typeface="Lato"/>
                <a:cs typeface="Lato"/>
              </a:rPr>
              <a:t>Histórico de pedidos no front</a:t>
            </a:r>
          </a:p>
        </p:txBody>
      </p:sp>
      <p:sp>
        <p:nvSpPr>
          <p:cNvPr id="14" name="Text 12"/>
          <p:cNvSpPr/>
          <p:nvPr/>
        </p:nvSpPr>
        <p:spPr>
          <a:xfrm>
            <a:off x="1097280" y="18288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3800" b="1" dirty="0">
                <a:solidFill>
                  <a:srgbClr val="595959"/>
                </a:solidFill>
                <a:latin typeface="Poppins SemiBold"/>
                <a:ea typeface="Poppins SemiBold"/>
                <a:cs typeface="Poppins SemiBold"/>
              </a:rPr>
              <a:t>Decisões</a:t>
            </a:r>
          </a:p>
        </p:txBody>
      </p:sp>
      <p:sp>
        <p:nvSpPr>
          <p:cNvPr id="15" name="Text 13"/>
          <p:cNvSpPr/>
          <p:nvPr/>
        </p:nvSpPr>
        <p:spPr>
          <a:xfrm>
            <a:off x="6766560" y="1463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300" dirty="0">
                <a:solidFill>
                  <a:srgbClr val="1D4ED8"/>
                </a:solidFill>
                <a:latin typeface="Poppins"/>
                <a:ea typeface="Poppins"/>
                <a:cs typeface="Poppins"/>
              </a:rPr>
              <a:t>O QUE VEM DEPOIS</a:t>
            </a:r>
          </a:p>
        </p:txBody>
      </p:sp>
      <p:sp>
        <p:nvSpPr>
          <p:cNvPr id="103" name="Divisor"/>
          <p:cNvSpPr/>
          <p:nvPr/>
        </p:nvSpPr>
        <p:spPr>
          <a:xfrm>
            <a:off x="6099048" y="1554480"/>
            <a:ext cx="0" cy="4114800"/>
          </a:xfrm>
          <a:prstGeom prst="line">
            <a:avLst/>
          </a:prstGeom>
          <a:noFill/>
          <a:ln w="12700">
            <a:solidFill>
              <a:srgbClr val="C9D3F2"/>
            </a:solidFill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72892DCAC666E4C88F773750DB066AD" ma:contentTypeVersion="15" ma:contentTypeDescription="Crie um novo documento." ma:contentTypeScope="" ma:versionID="e3109ad1d0d7b8074b9569ea6be8ea35">
  <xsd:schema xmlns:xsd="http://www.w3.org/2001/XMLSchema" xmlns:xs="http://www.w3.org/2001/XMLSchema" xmlns:p="http://schemas.microsoft.com/office/2006/metadata/properties" xmlns:ns3="fa156b9d-779c-41d5-bfc3-7d7e9f5b544d" xmlns:ns4="9915a585-c5f8-41c8-b1fd-a690439d3211" targetNamespace="http://schemas.microsoft.com/office/2006/metadata/properties" ma:root="true" ma:fieldsID="762f391c64ad56cae4511ed5f7e4a4f8" ns3:_="" ns4:_="">
    <xsd:import namespace="fa156b9d-779c-41d5-bfc3-7d7e9f5b544d"/>
    <xsd:import namespace="9915a585-c5f8-41c8-b1fd-a690439d3211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bjectDetectorVersions" minOccurs="0"/>
                <xsd:element ref="ns3:MediaServiceAutoTags" minOccurs="0"/>
                <xsd:element ref="ns3:MediaLengthInSeconds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SearchPropertie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156b9d-779c-41d5-bfc3-7d7e9f5b544d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15a585-c5f8-41c8-b1fd-a690439d3211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a156b9d-779c-41d5-bfc3-7d7e9f5b544d" xsi:nil="true"/>
  </documentManagement>
</p:properties>
</file>

<file path=customXml/itemProps1.xml><?xml version="1.0" encoding="utf-8"?>
<ds:datastoreItem xmlns:ds="http://schemas.openxmlformats.org/officeDocument/2006/customXml" ds:itemID="{1404B495-0CE3-44A3-B38A-B097E82B594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8D1A010-1A5B-4E8D-8BC2-3C0910E9DB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156b9d-779c-41d5-bfc3-7d7e9f5b544d"/>
    <ds:schemaRef ds:uri="9915a585-c5f8-41c8-b1fd-a690439d321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37F0182-B3F4-4A12-8238-EFD532AF76FE}">
  <ds:schemaRefs>
    <ds:schemaRef ds:uri="9915a585-c5f8-41c8-b1fd-a690439d3211"/>
    <ds:schemaRef ds:uri="http://schemas.microsoft.com/office/2006/documentManagement/types"/>
    <ds:schemaRef ds:uri="http://www.w3.org/XML/1998/namespace"/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schemas.microsoft.com/office/infopath/2007/PartnerControls"/>
    <ds:schemaRef ds:uri="fa156b9d-779c-41d5-bfc3-7d7e9f5b544d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apresnetacao-faex  -  Reparado</Template>
  <TotalTime>1</TotalTime>
  <Words>751</Words>
  <Application>Microsoft Office PowerPoint</Application>
  <PresentationFormat>Widescreen</PresentationFormat>
  <Paragraphs>87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2" baseType="lpstr">
      <vt:lpstr>Aptos</vt:lpstr>
      <vt:lpstr>Arial</vt:lpstr>
      <vt:lpstr>Lato</vt:lpstr>
      <vt:lpstr>Poppins</vt:lpstr>
      <vt:lpstr>Poppins SemiBold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Natã Pacheco</dc:creator>
  <cp:lastModifiedBy>Natã Pacheco</cp:lastModifiedBy>
  <cp:revision>1</cp:revision>
  <dcterms:created xsi:type="dcterms:W3CDTF">2026-10-22T21:24:50Z</dcterms:created>
  <dcterms:modified xsi:type="dcterms:W3CDTF">2026-10-22T21:26:21Z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0x010100972892DCAC666E4C88F773750DB066AD</vt:lpwstr>
  </property>
</Properties>
</file>